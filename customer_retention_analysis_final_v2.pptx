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9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</p:sldIdLst>
  <p:sldSz cx="9144000" cy="5143500" type="screen16x9"/>
  <p:notesSz cx="6858000" cy="9144000"/>
  <p:embeddedFontLst>
    <p:embeddedFont>
      <p:font typeface="Montserrat" panose="020B060402020202020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440C3DF-38DF-45CB-8E27-155A878FADA1}">
  <a:tblStyle styleId="{A440C3DF-38DF-45CB-8E27-155A878FADA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65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a9fa940987_3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a9fa940987_3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9469d1f40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a9469d1f40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9fa940987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a9fa940987_1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a9469d1f40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a9469d1f40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a9fa940987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a9fa940987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a9fa940987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a9fa940987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43858" y="1172225"/>
            <a:ext cx="67707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0" y="0"/>
            <a:ext cx="1216200" cy="2571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968425" y="2227050"/>
            <a:ext cx="446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7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3968275" y="3045375"/>
            <a:ext cx="4462500" cy="6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968350" y="1262325"/>
            <a:ext cx="4462500" cy="11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/>
          <p:nvPr/>
        </p:nvSpPr>
        <p:spPr>
          <a:xfrm rot="10800000" flipH="1">
            <a:off x="1441925" y="2571600"/>
            <a:ext cx="1216200" cy="1592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2658125" y="0"/>
            <a:ext cx="12162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200"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Barlow"/>
              <a:buChar char="○"/>
              <a:defRPr sz="1200"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Barlow"/>
              <a:buChar char="■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713225" y="384048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64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31" name="Google Shape;31;p6"/>
          <p:cNvSpPr/>
          <p:nvPr/>
        </p:nvSpPr>
        <p:spPr>
          <a:xfrm rot="5400000">
            <a:off x="6703350" y="270292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713225" y="544075"/>
            <a:ext cx="4458900" cy="1750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800" b="1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2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717800" y="383175"/>
            <a:ext cx="7708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4" name="Google Shape;94;p17"/>
          <p:cNvSpPr txBox="1">
            <a:spLocks noGrp="1"/>
          </p:cNvSpPr>
          <p:nvPr>
            <p:ph type="subTitle" idx="1"/>
          </p:nvPr>
        </p:nvSpPr>
        <p:spPr>
          <a:xfrm>
            <a:off x="78810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7"/>
          <p:cNvSpPr txBox="1">
            <a:spLocks noGrp="1"/>
          </p:cNvSpPr>
          <p:nvPr>
            <p:ph type="subTitle" idx="2"/>
          </p:nvPr>
        </p:nvSpPr>
        <p:spPr>
          <a:xfrm>
            <a:off x="78810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7"/>
          <p:cNvSpPr txBox="1">
            <a:spLocks noGrp="1"/>
          </p:cNvSpPr>
          <p:nvPr>
            <p:ph type="subTitle" idx="3"/>
          </p:nvPr>
        </p:nvSpPr>
        <p:spPr>
          <a:xfrm>
            <a:off x="344115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7"/>
          <p:cNvSpPr txBox="1">
            <a:spLocks noGrp="1"/>
          </p:cNvSpPr>
          <p:nvPr>
            <p:ph type="subTitle" idx="4"/>
          </p:nvPr>
        </p:nvSpPr>
        <p:spPr>
          <a:xfrm>
            <a:off x="344115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5"/>
          </p:nvPr>
        </p:nvSpPr>
        <p:spPr>
          <a:xfrm>
            <a:off x="6094200" y="2390400"/>
            <a:ext cx="2261700" cy="4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b="1">
                <a:solidFill>
                  <a:schemeClr val="accent1"/>
                </a:solidFill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7"/>
          <p:cNvSpPr txBox="1">
            <a:spLocks noGrp="1"/>
          </p:cNvSpPr>
          <p:nvPr>
            <p:ph type="subTitle" idx="6"/>
          </p:nvPr>
        </p:nvSpPr>
        <p:spPr>
          <a:xfrm>
            <a:off x="6094200" y="2765850"/>
            <a:ext cx="2261700" cy="72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7"/>
          <p:cNvSpPr/>
          <p:nvPr/>
        </p:nvSpPr>
        <p:spPr>
          <a:xfrm flipH="1">
            <a:off x="4572000" y="4834275"/>
            <a:ext cx="4572000" cy="309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7"/>
          <p:cNvSpPr/>
          <p:nvPr/>
        </p:nvSpPr>
        <p:spPr>
          <a:xfrm flipH="1">
            <a:off x="50" y="4834275"/>
            <a:ext cx="4572000" cy="309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 1">
  <p:cSld name="CUSTOM_6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>
            <a:spLocks noGrp="1"/>
          </p:cNvSpPr>
          <p:nvPr>
            <p:ph type="title"/>
          </p:nvPr>
        </p:nvSpPr>
        <p:spPr>
          <a:xfrm>
            <a:off x="3984975" y="1495800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0"/>
          <p:cNvSpPr txBox="1">
            <a:spLocks noGrp="1"/>
          </p:cNvSpPr>
          <p:nvPr>
            <p:ph type="subTitle" idx="1"/>
          </p:nvPr>
        </p:nvSpPr>
        <p:spPr>
          <a:xfrm>
            <a:off x="3994375" y="2142600"/>
            <a:ext cx="4055400" cy="150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0"/>
          <p:cNvSpPr/>
          <p:nvPr/>
        </p:nvSpPr>
        <p:spPr>
          <a:xfrm rot="10800000" flipH="1">
            <a:off x="0" y="2571825"/>
            <a:ext cx="1216200" cy="25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0"/>
          <p:cNvSpPr/>
          <p:nvPr/>
        </p:nvSpPr>
        <p:spPr>
          <a:xfrm rot="10800000" flipH="1">
            <a:off x="1219200" y="1247175"/>
            <a:ext cx="1216200" cy="1324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6" r:id="rId5"/>
    <p:sldLayoutId id="2147483658" r:id="rId6"/>
    <p:sldLayoutId id="2147483663" r:id="rId7"/>
    <p:sldLayoutId id="2147483666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0"/>
          <p:cNvSpPr txBox="1">
            <a:spLocks noGrp="1"/>
          </p:cNvSpPr>
          <p:nvPr>
            <p:ph type="ctrTitle"/>
          </p:nvPr>
        </p:nvSpPr>
        <p:spPr>
          <a:xfrm>
            <a:off x="1643858" y="775855"/>
            <a:ext cx="6770700" cy="244897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solidFill>
                  <a:schemeClr val="accent1"/>
                </a:solidFill>
              </a:rPr>
              <a:t>Customer Retention &amp; Cohort Analaysis</a:t>
            </a:r>
            <a:endParaRPr dirty="0" smtClean="0">
              <a:solidFill>
                <a:schemeClr val="accent1"/>
              </a:solidFill>
            </a:endParaRPr>
          </a:p>
        </p:txBody>
      </p:sp>
      <p:sp>
        <p:nvSpPr>
          <p:cNvPr id="186" name="Google Shape;186;p30"/>
          <p:cNvSpPr txBox="1">
            <a:spLocks noGrp="1"/>
          </p:cNvSpPr>
          <p:nvPr>
            <p:ph type="subTitle" idx="1"/>
          </p:nvPr>
        </p:nvSpPr>
        <p:spPr>
          <a:xfrm>
            <a:off x="1643852" y="3261775"/>
            <a:ext cx="6770700" cy="55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                                                                            Presented by:    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                                                                             </a:t>
            </a:r>
            <a:r>
              <a:rPr lang="en-US" dirty="0" err="1" smtClean="0"/>
              <a:t>Muthuvalli</a:t>
            </a:r>
            <a:r>
              <a:rPr lang="en-US" dirty="0" smtClean="0"/>
              <a:t> </a:t>
            </a:r>
            <a:r>
              <a:rPr lang="en-US" dirty="0" err="1" smtClean="0"/>
              <a:t>Elangovan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1"/>
          <p:cNvSpPr txBox="1">
            <a:spLocks noGrp="1"/>
          </p:cNvSpPr>
          <p:nvPr>
            <p:ph type="title"/>
          </p:nvPr>
        </p:nvSpPr>
        <p:spPr>
          <a:xfrm>
            <a:off x="713225" y="349411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Problem Statement</a:t>
            </a:r>
            <a:endParaRPr dirty="0"/>
          </a:p>
        </p:txBody>
      </p:sp>
      <p:sp>
        <p:nvSpPr>
          <p:cNvPr id="192" name="Google Shape;192;p3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400" b="1" dirty="0" smtClean="0"/>
              <a:t>No </a:t>
            </a:r>
            <a:r>
              <a:rPr lang="en-US" sz="1400" b="1" dirty="0"/>
              <a:t>visual view of customer </a:t>
            </a:r>
            <a:r>
              <a:rPr lang="en-US" sz="1400" b="1" dirty="0" smtClean="0"/>
              <a:t>retention</a:t>
            </a:r>
            <a:endParaRPr lang="en-US" sz="1400" dirty="0" smtClean="0"/>
          </a:p>
          <a:p>
            <a:pPr marL="139700" indent="0">
              <a:buNone/>
            </a:pPr>
            <a:r>
              <a:rPr lang="en-US" dirty="0" smtClean="0">
                <a:solidFill>
                  <a:schemeClr val="accent6">
                    <a:lumMod val="85000"/>
                    <a:lumOff val="15000"/>
                  </a:schemeClr>
                </a:solidFill>
              </a:rPr>
              <a:t>Customer retention is shown only as numbers in a spreadsheet, making it difficult to quickly understand customer behavior over time.</a:t>
            </a:r>
          </a:p>
          <a:p>
            <a:pPr marL="139700" indent="0">
              <a:buNone/>
            </a:pPr>
            <a:endParaRPr lang="en-US" dirty="0" smtClean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r>
              <a:rPr lang="en-US" sz="1400" b="1" dirty="0" smtClean="0"/>
              <a:t>Cannot </a:t>
            </a:r>
            <a:r>
              <a:rPr lang="en-US" sz="1400" b="1" dirty="0"/>
              <a:t>compare customer groups</a:t>
            </a:r>
            <a:endParaRPr lang="en-US" sz="1400" dirty="0"/>
          </a:p>
          <a:p>
            <a:pPr marL="139700" indent="0">
              <a:buNone/>
            </a:pPr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The business cannot easily compare whether customers who joined in different months are staying or leaving</a:t>
            </a:r>
            <a:r>
              <a:rPr lang="en-US" dirty="0" smtClean="0">
                <a:solidFill>
                  <a:schemeClr val="accent6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139700" indent="0">
              <a:buNone/>
            </a:pPr>
            <a:endParaRPr lang="en-US" dirty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r>
              <a:rPr lang="en-US" sz="1400" b="1" dirty="0" smtClean="0"/>
              <a:t>No </a:t>
            </a:r>
            <a:r>
              <a:rPr lang="en-US" sz="1400" b="1" dirty="0"/>
              <a:t>visibility of retention trends </a:t>
            </a:r>
            <a:endParaRPr lang="en-US" sz="1400" dirty="0"/>
          </a:p>
          <a:p>
            <a:pPr marL="139700" indent="0">
              <a:buNone/>
            </a:pPr>
            <a:r>
              <a:rPr lang="en-US" dirty="0" smtClean="0">
                <a:solidFill>
                  <a:schemeClr val="accent6">
                    <a:lumMod val="85000"/>
                    <a:lumOff val="15000"/>
                  </a:schemeClr>
                </a:solidFill>
              </a:rPr>
              <a:t>The </a:t>
            </a:r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business cannot see if customer retention is improving or declining over time after new campaigns or product changes</a:t>
            </a:r>
            <a:r>
              <a:rPr lang="en-US" dirty="0" smtClean="0">
                <a:solidFill>
                  <a:schemeClr val="accent6">
                    <a:lumMod val="85000"/>
                    <a:lumOff val="15000"/>
                  </a:schemeClr>
                </a:solidFill>
              </a:rPr>
              <a:t>.</a:t>
            </a:r>
          </a:p>
          <a:p>
            <a:pPr marL="139700" indent="0">
              <a:buNone/>
            </a:pPr>
            <a:endParaRPr lang="en-US" dirty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r>
              <a:rPr lang="en-US" sz="1400" b="1" dirty="0" smtClean="0"/>
              <a:t>Cannot </a:t>
            </a:r>
            <a:r>
              <a:rPr lang="en-US" sz="1400" b="1" dirty="0"/>
              <a:t>identify when customers leave</a:t>
            </a:r>
            <a:endParaRPr lang="en-US" sz="1400" dirty="0"/>
          </a:p>
          <a:p>
            <a:pPr marL="139700" indent="0">
              <a:buNone/>
            </a:pPr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The business does not know at which month or stage customers are most likely to stop using the product or service.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Create a </a:t>
            </a:r>
            <a:r>
              <a:rPr lang="en-US" dirty="0">
                <a:solidFill>
                  <a:schemeClr val="bg2"/>
                </a:solidFill>
              </a:rPr>
              <a:t>Tableau cohort </a:t>
            </a:r>
            <a:r>
              <a:rPr lang="en-US" dirty="0" err="1">
                <a:solidFill>
                  <a:schemeClr val="bg2"/>
                </a:solidFill>
              </a:rPr>
              <a:t>heatmap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to display customer retention visually, making it easy to understand customer behavior over time. </a:t>
            </a:r>
            <a:endParaRPr lang="en-US" dirty="0" smtClean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pPr lvl="0"/>
            <a:endParaRPr lang="en-US" dirty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pPr lvl="0"/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Organize the dashboard so that </a:t>
            </a:r>
            <a:r>
              <a:rPr lang="en-US" dirty="0">
                <a:solidFill>
                  <a:schemeClr val="bg2"/>
                </a:solidFill>
              </a:rPr>
              <a:t>each row represents one acquisition cohort </a:t>
            </a:r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(such as a month), allowing easy comparison of retention across different cohorts. </a:t>
            </a:r>
            <a:endParaRPr lang="en-US" dirty="0" smtClean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pPr lvl="0"/>
            <a:endParaRPr lang="en-US" dirty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pPr lvl="0"/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Use a </a:t>
            </a:r>
            <a:r>
              <a:rPr lang="en-US" dirty="0">
                <a:solidFill>
                  <a:schemeClr val="bg2"/>
                </a:solidFill>
              </a:rPr>
              <a:t>color-coded </a:t>
            </a:r>
            <a:r>
              <a:rPr lang="en-US" dirty="0" err="1">
                <a:solidFill>
                  <a:schemeClr val="bg2"/>
                </a:solidFill>
              </a:rPr>
              <a:t>heatmap</a:t>
            </a:r>
            <a:r>
              <a:rPr lang="en-US" dirty="0">
                <a:solidFill>
                  <a:schemeClr val="bg2"/>
                </a:solidFill>
              </a:rPr>
              <a:t> </a:t>
            </a:r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and a </a:t>
            </a:r>
            <a:r>
              <a:rPr lang="en-US" dirty="0" smtClean="0">
                <a:solidFill>
                  <a:schemeClr val="bg2"/>
                </a:solidFill>
              </a:rPr>
              <a:t>retention trend line chart </a:t>
            </a:r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to clearly show whether customer retention is improving or declining over time. </a:t>
            </a:r>
            <a:endParaRPr lang="en-US" dirty="0" smtClean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pPr lvl="0"/>
            <a:endParaRPr lang="en-US" dirty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pPr lvl="0"/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Display retention by </a:t>
            </a:r>
            <a:r>
              <a:rPr lang="en-US" dirty="0" smtClean="0">
                <a:solidFill>
                  <a:schemeClr val="bg2"/>
                </a:solidFill>
              </a:rPr>
              <a:t>Month 0, Month 1, Month 2, and so on, </a:t>
            </a:r>
            <a:r>
              <a:rPr lang="en-US" dirty="0" smtClean="0">
                <a:solidFill>
                  <a:schemeClr val="accent6">
                    <a:lumMod val="85000"/>
                    <a:lumOff val="15000"/>
                  </a:schemeClr>
                </a:solidFill>
              </a:rPr>
              <a:t>to </a:t>
            </a:r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identify the exact stage where the highest customer drop-off occurs. </a:t>
            </a:r>
            <a:endParaRPr lang="en-US" dirty="0" smtClean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pPr lvl="0"/>
            <a:endParaRPr lang="en-US" dirty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pPr lvl="0"/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Add </a:t>
            </a:r>
            <a:r>
              <a:rPr lang="en-US" dirty="0">
                <a:solidFill>
                  <a:schemeClr val="bg2"/>
                </a:solidFill>
              </a:rPr>
              <a:t>interactive filter</a:t>
            </a:r>
            <a:r>
              <a:rPr lang="en-US" b="1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s</a:t>
            </a:r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 for acquisition channel, customer segment, and product line to analyze retention for different customer groups. </a:t>
            </a:r>
            <a:endParaRPr lang="en-US" dirty="0" smtClean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pPr lvl="0"/>
            <a:endParaRPr lang="en-US" dirty="0">
              <a:solidFill>
                <a:schemeClr val="accent6">
                  <a:lumMod val="85000"/>
                  <a:lumOff val="15000"/>
                </a:schemeClr>
              </a:solidFill>
            </a:endParaRPr>
          </a:p>
          <a:p>
            <a:pPr lvl="0"/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Include </a:t>
            </a:r>
            <a:r>
              <a:rPr lang="en-US" dirty="0">
                <a:solidFill>
                  <a:schemeClr val="bg2"/>
                </a:solidFill>
              </a:rPr>
              <a:t>summary KPIs</a:t>
            </a:r>
            <a:r>
              <a:rPr lang="en-US" dirty="0">
                <a:solidFill>
                  <a:schemeClr val="accent6">
                    <a:lumMod val="85000"/>
                    <a:lumOff val="15000"/>
                  </a:schemeClr>
                </a:solidFill>
              </a:rPr>
              <a:t> such as average retention by channel and customer segment, helping stakeholders identify the most effective retention strategies and focus on areas that need improvement.</a:t>
            </a:r>
          </a:p>
          <a:p>
            <a:endParaRPr lang="en-US" dirty="0"/>
          </a:p>
        </p:txBody>
      </p:sp>
      <p:sp>
        <p:nvSpPr>
          <p:cNvPr id="222" name="Google Shape;222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</a:t>
            </a:r>
            <a:endParaRPr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5"/>
          <p:cNvSpPr txBox="1">
            <a:spLocks noGrp="1"/>
          </p:cNvSpPr>
          <p:nvPr>
            <p:ph type="title"/>
          </p:nvPr>
        </p:nvSpPr>
        <p:spPr>
          <a:xfrm>
            <a:off x="3756375" y="519054"/>
            <a:ext cx="4055400" cy="72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Dataset Details</a:t>
            </a:r>
            <a:endParaRPr dirty="0"/>
          </a:p>
        </p:txBody>
      </p:sp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3636819" y="1692326"/>
            <a:ext cx="4503011" cy="2041474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5"/>
                </a:solidFill>
              </a:rPr>
              <a:t>Dataset </a:t>
            </a:r>
            <a:r>
              <a:rPr lang="en-US" b="1" dirty="0" smtClean="0">
                <a:solidFill>
                  <a:schemeClr val="accent5"/>
                </a:solidFill>
              </a:rPr>
              <a:t>Name </a:t>
            </a:r>
            <a:r>
              <a:rPr lang="en-US" dirty="0" smtClean="0"/>
              <a:t>: </a:t>
            </a:r>
            <a:r>
              <a:rPr lang="en-US" dirty="0"/>
              <a:t>Online </a:t>
            </a:r>
            <a:r>
              <a:rPr lang="en-US" dirty="0" smtClean="0"/>
              <a:t>Retail Dataset</a:t>
            </a:r>
          </a:p>
          <a:p>
            <a:pPr algn="l"/>
            <a:endParaRPr lang="en-US" dirty="0" smtClean="0"/>
          </a:p>
          <a:p>
            <a:pPr algn="l"/>
            <a:r>
              <a:rPr lang="en-US" b="1" dirty="0" smtClean="0">
                <a:solidFill>
                  <a:schemeClr val="accent5"/>
                </a:solidFill>
              </a:rPr>
              <a:t>Source 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  <a:r>
              <a:rPr lang="en-US" dirty="0"/>
              <a:t>[</a:t>
            </a:r>
            <a:r>
              <a:rPr lang="en-US" dirty="0" err="1"/>
              <a:t>Kaggle</a:t>
            </a:r>
            <a:r>
              <a:rPr lang="en-US" dirty="0"/>
              <a:t> – Online Retail II (UCI)](https://www.kaggle.com/datasets/mashlyn/online-retail-ii-uci)</a:t>
            </a:r>
            <a:endParaRPr lang="en-US" dirty="0" smtClean="0"/>
          </a:p>
          <a:p>
            <a:pPr algn="l"/>
            <a:endParaRPr lang="en-US" dirty="0"/>
          </a:p>
          <a:p>
            <a:pPr algn="l"/>
            <a:r>
              <a:rPr lang="en-US" b="1" dirty="0">
                <a:solidFill>
                  <a:schemeClr val="accent5"/>
                </a:solidFill>
              </a:rPr>
              <a:t>File</a:t>
            </a:r>
            <a:r>
              <a:rPr lang="en-US" dirty="0"/>
              <a:t> : </a:t>
            </a:r>
            <a:r>
              <a:rPr lang="en-US" dirty="0" smtClean="0"/>
              <a:t>online_retail.csv</a:t>
            </a:r>
            <a:endParaRPr lang="en-US" dirty="0" smtClean="0"/>
          </a:p>
          <a:p>
            <a:pPr algn="l"/>
            <a:endParaRPr lang="en-US" dirty="0" smtClean="0"/>
          </a:p>
          <a:p>
            <a:pPr algn="l"/>
            <a:r>
              <a:rPr lang="en-US" dirty="0" smtClean="0">
                <a:solidFill>
                  <a:schemeClr val="accent5"/>
                </a:solidFill>
              </a:rPr>
              <a:t>Rows 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  <a:r>
              <a:rPr lang="en-US" dirty="0"/>
              <a:t>779,425 transaction </a:t>
            </a:r>
            <a:r>
              <a:rPr lang="en-US" dirty="0" smtClean="0"/>
              <a:t>records</a:t>
            </a:r>
          </a:p>
          <a:p>
            <a:pPr algn="l"/>
            <a:endParaRPr lang="en-US" b="1" dirty="0" smtClean="0">
              <a:solidFill>
                <a:schemeClr val="accent5"/>
              </a:solidFill>
            </a:endParaRPr>
          </a:p>
          <a:p>
            <a:pPr algn="l"/>
            <a:r>
              <a:rPr lang="en-US" b="1" dirty="0" smtClean="0">
                <a:solidFill>
                  <a:schemeClr val="accent5"/>
                </a:solidFill>
              </a:rPr>
              <a:t>Columns </a:t>
            </a:r>
            <a:r>
              <a:rPr lang="en-US" b="1" dirty="0" smtClean="0"/>
              <a:t>:</a:t>
            </a:r>
            <a:r>
              <a:rPr lang="en-US" dirty="0" smtClean="0"/>
              <a:t> </a:t>
            </a:r>
            <a:r>
              <a:rPr lang="en-US" dirty="0"/>
              <a:t>10 attributes</a:t>
            </a:r>
            <a:endParaRPr lang="en-US" dirty="0" smtClean="0"/>
          </a:p>
        </p:txBody>
      </p:sp>
      <p:sp>
        <p:nvSpPr>
          <p:cNvPr id="7" name="Subtitle 1"/>
          <p:cNvSpPr txBox="1">
            <a:spLocks/>
          </p:cNvSpPr>
          <p:nvPr/>
        </p:nvSpPr>
        <p:spPr>
          <a:xfrm>
            <a:off x="3925971" y="4433455"/>
            <a:ext cx="4213859" cy="12231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None/>
              <a:defRPr sz="1400" b="0" i="0" u="none" strike="noStrike" cap="none" spc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algn="l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Problem </a:t>
            </a:r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492620"/>
              </p:ext>
            </p:extLst>
          </p:nvPr>
        </p:nvGraphicFramePr>
        <p:xfrm>
          <a:off x="768325" y="1264565"/>
          <a:ext cx="8521700" cy="335280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val="3581150193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39698601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5"/>
                          </a:solidFill>
                        </a:rPr>
                        <a:t>Attribute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accent5"/>
                          </a:solidFill>
                        </a:rPr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37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invoice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Unique invoice/order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7010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stock_code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Product SKU/code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2644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Product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201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quantity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Number of units purchased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79565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invoice_date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Date and time of purchase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6209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Unit price of the item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02094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customer_id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Unique customer identifier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584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country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Customer's country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7477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total_price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Total value of the transaction line (quantity × price)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4880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invoice_month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Month of the invoice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43123442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7"/>
          <p:cNvSpPr txBox="1">
            <a:spLocks noGrp="1"/>
          </p:cNvSpPr>
          <p:nvPr>
            <p:ph type="title"/>
          </p:nvPr>
        </p:nvSpPr>
        <p:spPr>
          <a:xfrm>
            <a:off x="0" y="38098"/>
            <a:ext cx="8956964" cy="50482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Dashboard Screenshot</a:t>
            </a:r>
            <a:endParaRPr dirty="0"/>
          </a:p>
        </p:txBody>
      </p:sp>
      <p:sp>
        <p:nvSpPr>
          <p:cNvPr id="14" name="Text Placeholder 3"/>
          <p:cNvSpPr txBox="1">
            <a:spLocks/>
          </p:cNvSpPr>
          <p:nvPr/>
        </p:nvSpPr>
        <p:spPr>
          <a:xfrm>
            <a:off x="713225" y="1152474"/>
            <a:ext cx="7717500" cy="3918289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1148" y="0"/>
            <a:ext cx="9175147" cy="51434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20210054">
            <a:off x="2041962" y="1885951"/>
            <a:ext cx="4458900" cy="1701944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nagement Consulting Toolkit by Slidesgo">
  <a:themeElements>
    <a:clrScheme name="Simple Light">
      <a:dk1>
        <a:srgbClr val="000000"/>
      </a:dk1>
      <a:lt1>
        <a:srgbClr val="FFFFFF"/>
      </a:lt1>
      <a:dk2>
        <a:srgbClr val="0E835C"/>
      </a:dk2>
      <a:lt2>
        <a:srgbClr val="EFEFEF"/>
      </a:lt2>
      <a:accent1>
        <a:srgbClr val="06503D"/>
      </a:accent1>
      <a:accent2>
        <a:srgbClr val="000000"/>
      </a:accent2>
      <a:accent3>
        <a:srgbClr val="0E835C"/>
      </a:accent3>
      <a:accent4>
        <a:srgbClr val="EFEFEF"/>
      </a:accent4>
      <a:accent5>
        <a:srgbClr val="06503D"/>
      </a:accent5>
      <a:accent6>
        <a:srgbClr val="000000"/>
      </a:accent6>
      <a:hlink>
        <a:srgbClr val="0A5E4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2495</TotalTime>
  <Words>360</Words>
  <Application>Microsoft Office PowerPoint</Application>
  <PresentationFormat>On-screen Show (16:9)</PresentationFormat>
  <Paragraphs>62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Montserrat</vt:lpstr>
      <vt:lpstr>Barlow</vt:lpstr>
      <vt:lpstr>Arial</vt:lpstr>
      <vt:lpstr>Management Consulting Toolkit by Slidesgo</vt:lpstr>
      <vt:lpstr>Customer Retention &amp; Cohort Analaysis</vt:lpstr>
      <vt:lpstr>Problem Statement</vt:lpstr>
      <vt:lpstr>Solution</vt:lpstr>
      <vt:lpstr>Dataset Details</vt:lpstr>
      <vt:lpstr>Understanding the Problem </vt:lpstr>
      <vt:lpstr>Dashboard Screenshot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Retention &amp; Cohort Analaysis</dc:title>
  <dc:creator>ADMIN</dc:creator>
  <cp:lastModifiedBy>ADMIN</cp:lastModifiedBy>
  <cp:revision>20</cp:revision>
  <dcterms:modified xsi:type="dcterms:W3CDTF">2026-10-02T15:57:22Z</dcterms:modified>
</cp:coreProperties>
</file>